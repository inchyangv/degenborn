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83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23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4320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60175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917375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460175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917375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97280"/>
            <a:ext cx="521208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400" b="0" i="1">
                <a:solidFill>
                  <a:srgbClr val="D0D0E8"/>
                </a:solidFill>
                <a:latin typeface="Calibri"/>
              </a:defRPr>
            </a:pPr>
            <a:r>
              <a:t>Your wallet has a personality. You just haven't seen it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B6B8D"/>
                </a:solidFill>
                <a:latin typeface="Consolas"/>
              </a:defRPr>
            </a:pPr>
            <a:r>
              <a:t>AI Identity Engine for Four.meme Traders  //  BNB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2A2A3A"/>
                </a:solidFill>
                <a:latin typeface="Consolas"/>
              </a:defRPr>
            </a:pPr>
            <a:r>
              <a:t>Four.meme AI Sprint  |  April 2026  |  Solo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5486400" cy="5486400"/>
          </a:xfrm>
          <a:prstGeom prst="ellipse">
            <a:avLst/>
          </a:prstGeom>
          <a:solidFill>
            <a:srgbClr val="36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3D3D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FFFFFF"/>
                </a:solidFill>
                <a:latin typeface="Arial Black"/>
              </a:defRPr>
            </a:pPr>
            <a:r>
              <a:t>On-chain data is rich with story.</a:t>
            </a:r>
            <a:br/>
            <a:r>
              <a:t>But it collapses into a log nobody shares.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3D3D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Wallets have no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7432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B6B8D"/>
                </a:solidFill>
                <a:latin typeface="Calibri"/>
              </a:defRPr>
            </a:pPr>
            <a:r>
              <a:t>Your wallet shows what happened,</a:t>
            </a:r>
            <a:br/>
            <a:r>
              <a:t>not who you are. No style, no scars,</a:t>
            </a:r>
            <a:br/>
            <a:r>
              <a:t>no personality.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3D3D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On-chain data is boring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97680"/>
            <a:ext cx="27432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B6B8D"/>
                </a:solidFill>
                <a:latin typeface="Calibri"/>
              </a:defRPr>
            </a:pPr>
            <a:r>
              <a:t>Transaction hashes and P&amp;L tables.</a:t>
            </a:r>
            <a:br/>
            <a:r>
              <a:t>Nobody screenshots a block explorer.</a:t>
            </a:r>
            <a:br/>
            <a:r>
              <a:t>Zero shareability.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3D3D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576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NFTs are static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97680"/>
            <a:ext cx="27432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B6B8D"/>
                </a:solidFill>
                <a:latin typeface="Calibri"/>
              </a:defRPr>
            </a:pPr>
            <a:r>
              <a:t>Minted once, forgotten forever.</a:t>
            </a:r>
            <a:br/>
            <a:r>
              <a:t>No growth. No connection to</a:t>
            </a:r>
            <a:br/>
            <a:r>
              <a:t>your actual behavior.</a:t>
            </a:r>
          </a:p>
        </p:txBody>
      </p:sp>
      <p:pic>
        <p:nvPicPr>
          <p:cNvPr id="18" name="Picture 17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943600"/>
            <a:ext cx="548640" cy="548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4572000"/>
          </a:xfrm>
          <a:prstGeom prst="ellipse">
            <a:avLst/>
          </a:prstGeom>
          <a:solidFill>
            <a:srgbClr val="083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74320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320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460175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17375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60175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917375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00FF88"/>
                </a:solidFill>
                <a:latin typeface="Arial Black"/>
              </a:defRPr>
            </a:pPr>
            <a:r>
              <a:t>We don't need another dashboard.</a:t>
            </a:r>
            <a:br/>
            <a:r>
              <a:t>We need a mirror.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114800"/>
            <a:ext cx="7589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D0D0E8"/>
                </a:solidFill>
                <a:latin typeface="Calibri"/>
              </a:defRPr>
            </a:pPr>
            <a:r>
              <a:t>Panic sells at 3am. Diamond hands through -90%. Aping back in</a:t>
            </a:r>
            <a:br/>
            <a:r>
              <a:t>after getting rugged. That's not just data. That's personality.</a:t>
            </a:r>
            <a:br/>
            <a:r>
              <a:t>DegenBorn makes it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D4FF"/>
                </a:solidFill>
                <a:latin typeface="Consolas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Arial Black"/>
              </a:defRPr>
            </a:pPr>
            <a:r>
              <a:t>From wallet activity to living character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560320"/>
            <a:ext cx="640080" cy="6400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A0A0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FF88"/>
                </a:solidFill>
                <a:latin typeface="Consolas"/>
              </a:defRPr>
            </a:pPr>
            <a: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645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alibri"/>
              </a:defRPr>
            </a:pPr>
            <a:r>
              <a:t>Read Four.meme</a:t>
            </a:r>
            <a:br/>
            <a:r>
              <a:t>wallet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832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A2A3A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28600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256032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6060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A0A0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83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D4FF"/>
                </a:solidFill>
                <a:latin typeface="Consolas"/>
              </a:defRPr>
            </a:pPr>
            <a: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931920"/>
            <a:ext cx="1645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alibri"/>
              </a:defRPr>
            </a:pPr>
            <a:r>
              <a:t>Compute 5-axis</a:t>
            </a:r>
            <a:br/>
            <a:r>
              <a:t>Persona 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832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A2A3A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28600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6440" y="2560320"/>
            <a:ext cx="640080" cy="6400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6060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A0A0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383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9945FF"/>
                </a:solidFill>
                <a:latin typeface="Consolas"/>
              </a:defRPr>
            </a:pPr>
            <a:r>
              <a:t>CLASSIFY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31920"/>
            <a:ext cx="1645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alibri"/>
              </a:defRPr>
            </a:pPr>
            <a:r>
              <a:t>Rule-tree assigns</a:t>
            </a:r>
            <a:br/>
            <a:r>
              <a:t>archetype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3832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A2A3A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28600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92440" y="256032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6060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A0A0F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383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D700"/>
                </a:solidFill>
                <a:latin typeface="Consolas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931920"/>
            <a:ext cx="1645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alibri"/>
              </a:defRPr>
            </a:pPr>
            <a:r>
              <a:t>AI creates genesis</a:t>
            </a:r>
            <a:br/>
            <a:r>
              <a:t>character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3832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A2A3A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286000"/>
            <a:ext cx="2011680" cy="292608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8440" y="2560320"/>
            <a:ext cx="640080" cy="6400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26060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A0A0F"/>
                </a:solidFill>
                <a:latin typeface="Arial Black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383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FF88"/>
                </a:solidFill>
                <a:latin typeface="Consolas"/>
              </a:defRPr>
            </a:pPr>
            <a:r>
              <a:t>EVOLVE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931920"/>
            <a:ext cx="1645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alibri"/>
              </a:defRPr>
            </a:pPr>
            <a:r>
              <a:t>Every trade mutates</a:t>
            </a:r>
            <a:br/>
            <a:r>
              <a:t>your monster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00FF88"/>
                </a:solidFill>
                <a:latin typeface="Consolas"/>
              </a:defRPr>
            </a:pPr>
            <a:r>
              <a:t>Same wallet + same events = same result. Always. No LLM hallucination in the scoring layer.</a:t>
            </a:r>
          </a:p>
        </p:txBody>
      </p:sp>
      <p:pic>
        <p:nvPicPr>
          <p:cNvPr id="35" name="Picture 3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943600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0"/>
            <a:ext cx="4572000" cy="4572000"/>
          </a:xfrm>
          <a:prstGeom prst="ellipse">
            <a:avLst/>
          </a:prstGeom>
          <a:solidFill>
            <a:srgbClr val="083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FF88"/>
                </a:solidFill>
                <a:latin typeface="Consolas"/>
              </a:defRPr>
            </a:pPr>
            <a:r>
              <a:t>PERSONA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Arial Black"/>
              </a:defRPr>
            </a:pPr>
            <a:r>
              <a:t>Five axes. Pure math. Zero LLM calls.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3D3D"/>
                </a:solidFill>
                <a:latin typeface="Consolas"/>
              </a:defRPr>
            </a:pPr>
            <a:r>
              <a:t>AGGRESSION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57400"/>
            <a:ext cx="5486400" cy="320040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2057400"/>
            <a:ext cx="4498848" cy="320040"/>
          </a:xfrm>
          <a:prstGeom prst="roundRect">
            <a:avLst>
              <a:gd name="adj" fmla="val 50000"/>
            </a:avLst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3D3D"/>
                </a:solidFill>
                <a:latin typeface="Arial Black"/>
              </a:defRPr>
            </a:pPr>
            <a: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0116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How fast and often you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D4FF"/>
                </a:solidFill>
                <a:latin typeface="Consolas"/>
              </a:defRPr>
            </a:pPr>
            <a:r>
              <a:t>CONVICTION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971800"/>
            <a:ext cx="5486400" cy="320040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97180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926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D4FF"/>
                </a:solidFill>
                <a:latin typeface="Arial Black"/>
              </a:defRPr>
            </a:pPr>
            <a: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How long and focused you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945FF"/>
                </a:solidFill>
                <a:latin typeface="Consolas"/>
              </a:defRPr>
            </a:pPr>
            <a:r>
              <a:t>CHAOS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886200"/>
            <a:ext cx="5486400" cy="320040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26080" y="3886200"/>
            <a:ext cx="4169664" cy="320040"/>
          </a:xfrm>
          <a:prstGeom prst="roundRect">
            <a:avLst>
              <a:gd name="adj" fmla="val 50000"/>
            </a:avLst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8404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9945FF"/>
                </a:solidFill>
                <a:latin typeface="Arial Black"/>
              </a:defRPr>
            </a:pPr>
            <a:r>
              <a:t>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840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How volatile your history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D700"/>
                </a:solidFill>
                <a:latin typeface="Consolas"/>
              </a:defRPr>
            </a:pPr>
            <a:r>
              <a:t>LUCK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800600"/>
            <a:ext cx="5486400" cy="320040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26080" y="4800600"/>
            <a:ext cx="2249424" cy="32004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7548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D700"/>
                </a:solidFill>
                <a:latin typeface="Arial Black"/>
              </a:defRPr>
            </a:pPr>
            <a:r>
              <a:t>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7548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How well-timed your exits 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FF88"/>
                </a:solidFill>
                <a:latin typeface="Consolas"/>
              </a:defRPr>
            </a:pPr>
            <a:r>
              <a:t>SURVIVAL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5715000"/>
            <a:ext cx="5486400" cy="320040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26080" y="5715000"/>
            <a:ext cx="4992624" cy="3200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56692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FF88"/>
                </a:solidFill>
                <a:latin typeface="Arial Black"/>
              </a:defRPr>
            </a:pPr>
            <a:r>
              <a:t>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6692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How many times you came 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6B6B8D"/>
                </a:solidFill>
                <a:latin typeface="Consolas"/>
              </a:defRPr>
            </a:pPr>
            <a:r>
              <a:t>Example: "Rug Necromancer"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9945FF"/>
                </a:solidFill>
                <a:latin typeface="Consolas"/>
              </a:defRPr>
            </a:pPr>
            <a:r>
              <a:t>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Arial Black"/>
              </a:defRPr>
            </a:pPr>
            <a:r>
              <a:t>A rule tree decides. Not a prompt.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286000"/>
            <a:ext cx="182880" cy="182880"/>
          </a:xfrm>
          <a:prstGeom prst="ellipse">
            <a:avLst/>
          </a:prstGeom>
          <a:solidFill>
            <a:srgbClr val="FF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3D3D"/>
                </a:solidFill>
                <a:latin typeface="Calibri"/>
              </a:defRPr>
            </a:pPr>
            <a:r>
              <a:t>Mad Gambler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AGG &gt;= 65, CHAOS &gt;= 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0D0E8"/>
                </a:solidFill>
                <a:latin typeface="Calibri"/>
              </a:defRPr>
            </a:pPr>
            <a:r>
              <a:t>All-in, always. The casino</a:t>
            </a:r>
            <a:br/>
            <a:r>
              <a:t>never closes if you never leave.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01168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79" y="2286000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22402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D4FF"/>
                </a:solidFill>
                <a:latin typeface="Calibri"/>
              </a:defRPr>
            </a:pPr>
            <a:r>
              <a:t>Ice Whale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517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CONV &gt;= 65, LUCK &gt;= 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01752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0D0E8"/>
                </a:solidFill>
                <a:latin typeface="Calibri"/>
              </a:defRPr>
            </a:pPr>
            <a:r>
              <a:t>Patient, loaded, lucky.</a:t>
            </a:r>
            <a:br/>
            <a:r>
              <a:t>You're not gambling. You're investing</a:t>
            </a:r>
            <a:br/>
            <a:r>
              <a:t>in chaos.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201168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18" y="2286000"/>
            <a:ext cx="182880" cy="1828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38" y="22402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9945FF"/>
                </a:solidFill>
                <a:latin typeface="Calibri"/>
              </a:defRPr>
            </a:pPr>
            <a:r>
              <a:t>Rug Necromancer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8" y="26517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CHAOS &gt;= 65, SURV &gt;= 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301752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0D0E8"/>
                </a:solidFill>
                <a:latin typeface="Calibri"/>
              </a:defRPr>
            </a:pPr>
            <a:r>
              <a:t>Your portfolio died.</a:t>
            </a:r>
            <a:br/>
            <a:r>
              <a:t>You didn't. Death is just a dip.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663440"/>
            <a:ext cx="182880" cy="182880"/>
          </a:xfrm>
          <a:prstGeom prst="ellipse">
            <a:avLst/>
          </a:prstGeom>
          <a:solidFill>
            <a:srgbClr val="88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17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88CCFF"/>
                </a:solidFill>
                <a:latin typeface="Calibri"/>
              </a:defRPr>
            </a:pPr>
            <a:r>
              <a:t>Diamond Cultist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CONV &gt;= 65, LUCK &lt; 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9496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0D0E8"/>
                </a:solidFill>
                <a:latin typeface="Calibri"/>
              </a:defRPr>
            </a:pPr>
            <a:r>
              <a:t>Bought the top. Still holding.</a:t>
            </a:r>
            <a:br/>
            <a:r>
              <a:t>Not because it'll moon. Because</a:t>
            </a:r>
            <a:br/>
            <a:r>
              <a:t>leaving means admitting defeat.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438912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26279" y="4663440"/>
            <a:ext cx="182880" cy="1828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4617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D700"/>
                </a:solidFill>
                <a:latin typeface="Calibri"/>
              </a:defRPr>
            </a:pPr>
            <a:r>
              <a:t>Sniper Jester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5029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AGG &gt;= 65, LUCK &gt;= 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539496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0D0E8"/>
                </a:solidFill>
                <a:latin typeface="Calibri"/>
              </a:defRPr>
            </a:pPr>
            <a:r>
              <a:t>In and out. Perfectly timed.</a:t>
            </a:r>
            <a:br/>
            <a:r>
              <a:t>Nobody knows if you're a genius</a:t>
            </a:r>
            <a:br/>
            <a:r>
              <a:t>or just lucky.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438912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5318" y="4663440"/>
            <a:ext cx="182880" cy="18288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38" y="4617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AAAAAA"/>
                </a:solidFill>
                <a:latin typeface="Calibri"/>
              </a:defRPr>
            </a:pPr>
            <a:r>
              <a:t>Ghost Bagholder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8" y="5029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CONV &gt;= 65, SURV &lt; 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8" y="5394960"/>
            <a:ext cx="30175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0D0E8"/>
                </a:solidFill>
                <a:latin typeface="Calibri"/>
              </a:defRPr>
            </a:pPr>
            <a:r>
              <a:t>You believed. Hard.</a:t>
            </a:r>
            <a:br/>
            <a:r>
              <a:t>The token didn't. Still haunting</a:t>
            </a:r>
            <a:br/>
            <a:r>
              <a:t>the chart.</a:t>
            </a:r>
          </a:p>
        </p:txBody>
      </p:sp>
      <p:pic>
        <p:nvPicPr>
          <p:cNvPr id="35" name="Picture 3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943600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362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D700"/>
                </a:solidFill>
                <a:latin typeface="Consolas"/>
              </a:defRPr>
            </a:pPr>
            <a: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FFFFFF"/>
                </a:solidFill>
                <a:latin typeface="Arial Black"/>
              </a:defRPr>
            </a:pPr>
            <a:r>
              <a:t>Your monster isn't static. Every trade leaves a 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6B6B8D"/>
                </a:solidFill>
                <a:latin typeface="Consolas"/>
              </a:defRPr>
            </a:pPr>
            <a:r>
              <a:t>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6B6B8D"/>
                </a:solidFill>
                <a:latin typeface="Consolas"/>
              </a:defRPr>
            </a:pPr>
            <a:r>
              <a:t>MUTATION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6B6B8D"/>
                </a:solidFill>
                <a:latin typeface="Consolas"/>
              </a:defRPr>
            </a:pPr>
            <a:r>
              <a:t>STATE DELTA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097280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Win streak x3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FF88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FF88"/>
                </a:solidFill>
                <a:latin typeface="Calibri"/>
              </a:defRPr>
            </a:pPr>
            <a:r>
              <a:t>Crown appears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560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6B8D"/>
                </a:solidFill>
                <a:latin typeface="Consolas"/>
              </a:defRPr>
            </a:pPr>
            <a:r>
              <a:t>+1 crownCount, mood: euphoria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1097280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Major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3D3D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3D3D"/>
                </a:solidFill>
                <a:latin typeface="Calibri"/>
              </a:defRPr>
            </a:pPr>
            <a:r>
              <a:t>Scar added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004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6B8D"/>
                </a:solidFill>
                <a:latin typeface="Consolas"/>
              </a:defRPr>
            </a:pPr>
            <a:r>
              <a:t>+1 scarCount, mood: despair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1097280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Rug pull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4048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945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404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945FF"/>
                </a:solidFill>
                <a:latin typeface="Calibri"/>
              </a:defRPr>
            </a:pPr>
            <a:r>
              <a:t>Zombie eyes activate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8404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6B8D"/>
                </a:solidFill>
                <a:latin typeface="Consolas"/>
              </a:defRPr>
            </a:pPr>
            <a:r>
              <a:t>+20 corruption, zombieTrait: true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34840"/>
            <a:ext cx="1097280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Comeback after -90%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805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D700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4805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D700"/>
                </a:solidFill>
                <a:latin typeface="Calibri"/>
              </a:defRPr>
            </a:pPr>
            <a:r>
              <a:t>Revenge aura ignites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48056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6B8D"/>
                </a:solidFill>
                <a:latin typeface="Consolas"/>
              </a:defRPr>
            </a:pPr>
            <a:r>
              <a:t>+1 survivalStreak, mood: revenge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74920"/>
            <a:ext cx="1097280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Long diamond 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206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D4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12064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D4FF"/>
                </a:solidFill>
                <a:latin typeface="Calibri"/>
              </a:defRPr>
            </a:pPr>
            <a:r>
              <a:t>Royal cloak forms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1206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6B8D"/>
                </a:solidFill>
                <a:latin typeface="Consolas"/>
              </a:defRPr>
            </a:pPr>
            <a:r>
              <a:t>+15 prestige, royalTrait: true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715000"/>
            <a:ext cx="1097280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607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Multiple rug survival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7607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945FF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7607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945FF"/>
                </a:solidFill>
                <a:latin typeface="Calibri"/>
              </a:defRPr>
            </a:pPr>
            <a:r>
              <a:t>Necromancer ascension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7607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B6B8D"/>
                </a:solidFill>
                <a:latin typeface="Consolas"/>
              </a:defRPr>
            </a:pPr>
            <a:r>
              <a:t>Full re-render triggered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00FF88"/>
                </a:solidFill>
                <a:latin typeface="Consolas"/>
              </a:defRPr>
            </a:pPr>
            <a:r>
              <a:t>Genesis image generated once. Daily changes use overlay compositing. Full re-render only at major milestones.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914400"/>
            <a:ext cx="5486400" cy="5486400"/>
          </a:xfrm>
          <a:prstGeom prst="ellipse">
            <a:avLst/>
          </a:prstGeom>
          <a:solidFill>
            <a:srgbClr val="08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D4FF"/>
                </a:solidFill>
                <a:latin typeface="Consolas"/>
              </a:defRPr>
            </a:pPr>
            <a:r>
              <a:t>SOUL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Arial Black"/>
              </a:defRPr>
            </a:pPr>
            <a:r>
              <a:t>Your on-chain identity. Not a collectible.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D4FF"/>
                </a:solidFill>
                <a:latin typeface="Consolas"/>
              </a:defRPr>
            </a:pPr>
            <a:r>
              <a:t>SOUL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Soulbound ERC-721 on BNB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One per wallet. Non-transferable.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02736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Always reflects your current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95344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4187952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0D4FF"/>
                </a:solidFill>
                <a:latin typeface="Consolas"/>
              </a:defRPr>
            </a:pPr>
            <a:r>
              <a:t>On-chain 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onsolas"/>
              </a:defRPr>
            </a:pPr>
            <a:r>
              <a:t>  dnaHash      // persona fingerprint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7316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onsolas"/>
              </a:defRPr>
            </a:pPr>
            <a:r>
              <a:t>  archetype    // rule-tree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65776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onsolas"/>
              </a:defRPr>
            </a:pPr>
            <a:r>
              <a:t>  level        // growth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58384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B6B8D"/>
                </a:solidFill>
                <a:latin typeface="Consolas"/>
              </a:defRPr>
            </a:pPr>
            <a:r>
              <a:t>  stateHash    // latest mutation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D700"/>
                </a:solidFill>
                <a:latin typeface="Consolas"/>
              </a:defRPr>
            </a:pPr>
            <a:r>
              <a:t>SNAPSHOT RELIC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15468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1089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First Crowned 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429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Win streak milestone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379476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7490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Rug Survivor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690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Survived 3+ rug events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443484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3891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Seven-Day Resurrection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09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Major comeback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0" y="5074920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0292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Chaos Ascension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3492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B6B8D"/>
                </a:solidFill>
                <a:latin typeface="Calibri"/>
              </a:defRPr>
            </a:pPr>
            <a:r>
              <a:t>Corruption threshold reached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669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6B6B8D"/>
                </a:solidFill>
                <a:latin typeface="Calibri"/>
              </a:defRPr>
            </a:pPr>
            <a:r>
              <a:t>Tradeable. Each one commemorates a major evolution moment.</a:t>
            </a:r>
          </a:p>
        </p:txBody>
      </p:sp>
      <p:pic>
        <p:nvPicPr>
          <p:cNvPr id="32" name="Picture 31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943600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3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2743200"/>
            <a:ext cx="4572000" cy="4572000"/>
          </a:xfrm>
          <a:prstGeom prst="ellipse">
            <a:avLst/>
          </a:prstGeom>
          <a:solidFill>
            <a:srgbClr val="23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60175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17375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60175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917375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73152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0FF88"/>
                </a:solidFill>
                <a:latin typeface="Arial Black"/>
              </a:defRPr>
            </a:pPr>
            <a:r>
              <a:t>Rules decide.</a:t>
            </a:r>
            <a:br/>
            <a:r>
              <a:t>AI expresses.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54864" cy="3474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175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FF88"/>
                </a:solidFill>
                <a:latin typeface="Calibri"/>
              </a:defRPr>
            </a:pPr>
            <a:r>
              <a:t>Deterministic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0D0E8"/>
                </a:solidFill>
                <a:latin typeface="Calibri"/>
              </a:defRPr>
            </a:pPr>
            <a:r>
              <a:t>Most AI x Web3 projects let the LLM make judgments.</a:t>
            </a:r>
            <a:br/>
            <a:r>
              <a:t>We don't. Scoring engine and archetype classifier are</a:t>
            </a:r>
            <a:br/>
            <a:r>
              <a:t>fully deterministic. AI only handles narrative, visuals,</a:t>
            </a:r>
            <a:br/>
            <a:r>
              <a:t>and captions. Reproducible. Auditable. Stable.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74320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2743200"/>
            <a:ext cx="54864" cy="3474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D4FF"/>
                </a:solidFill>
                <a:latin typeface="Calibri"/>
              </a:defRPr>
            </a:pPr>
            <a:r>
              <a:t>Trading Becomes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65760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0D0E8"/>
                </a:solidFill>
                <a:latin typeface="Calibri"/>
              </a:defRPr>
            </a:pPr>
            <a:r>
              <a:t>Every trade changes your character. That's not a gimmick</a:t>
            </a:r>
            <a:br/>
            <a:r>
              <a:t>--- it's a feedback loop. Four.meme gets stickier</a:t>
            </a:r>
            <a:br/>
            <a:r>
              <a:t>when your portfolio has a face, scars, and a mood.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8" y="274320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8" y="2743200"/>
            <a:ext cx="54864" cy="3474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8" y="30175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D700"/>
                </a:solidFill>
                <a:latin typeface="Calibri"/>
              </a:defRPr>
            </a:pPr>
            <a:r>
              <a:t>Sharing Without Spam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365760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0D0E8"/>
                </a:solidFill>
                <a:latin typeface="Calibri"/>
              </a:defRPr>
            </a:pPr>
            <a:r>
              <a:t>We generate meme-ready share cards and one-line</a:t>
            </a:r>
            <a:br/>
            <a:r>
              <a:t>captions. Users decide when to post. No auto-tweeting.</a:t>
            </a:r>
            <a:br/>
            <a:r>
              <a:t>No bot behavior. The content markets itself.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D4FF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FFFFFF"/>
                </a:solidFill>
                <a:latin typeface="Arial Black"/>
              </a:defRPr>
            </a:pPr>
            <a:r>
              <a:t>Built to ship, not to impress a whitepaper.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76272"/>
            <a:ext cx="137160" cy="1371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FF88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Next.js 14, TypeScript, Tailwind, wagmi v2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1069848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724912"/>
            <a:ext cx="137160" cy="1371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FF88"/>
                </a:solidFill>
                <a:latin typeface="Consolas"/>
              </a:defRPr>
            </a:pPr>
            <a:r>
              <a:t>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Deterministic engine — pure functions, 0 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1069848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73552"/>
            <a:ext cx="137160" cy="1371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D4FF"/>
                </a:solidFill>
                <a:latin typeface="Consolas"/>
              </a:defRPr>
            </a:pPr>
            <a: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0040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Rule-tree archetype mapper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1069848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822192"/>
            <a:ext cx="137160" cy="13716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749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9945FF"/>
                </a:solidFill>
                <a:latin typeface="Consolas"/>
              </a:defRPr>
            </a:pPr>
            <a:r>
              <a:t>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4904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Claude / GPT-4o-mini + structured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51960"/>
            <a:ext cx="1069848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370832"/>
            <a:ext cx="137160" cy="13716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9945FF"/>
                </a:solidFill>
                <a:latin typeface="Consolas"/>
              </a:defRPr>
            </a:pPr>
            <a:r>
              <a:t>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29768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DALL-E 3 genesis + Canvas overlay compositor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00600"/>
            <a:ext cx="1069848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4919472"/>
            <a:ext cx="137160" cy="1371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D700"/>
                </a:solidFill>
                <a:latin typeface="Consolas"/>
              </a:defRPr>
            </a:pPr>
            <a:r>
              <a:t>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4632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Solidity 0.8.24, Soulbound ERC-721, BNB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49240"/>
            <a:ext cx="1069848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" y="5468112"/>
            <a:ext cx="137160" cy="1371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9496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D4FF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39496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Moralis / Covalent + offline fixture mode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97880"/>
            <a:ext cx="1069848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6016752"/>
            <a:ext cx="137160" cy="1371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9436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D4FF"/>
                </a:solidFill>
                <a:latin typeface="Consolas"/>
              </a:defRPr>
            </a:pPr>
            <a:r>
              <a:t>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943600"/>
            <a:ext cx="7772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0D0E8"/>
                </a:solidFill>
                <a:latin typeface="Calibri"/>
              </a:defRPr>
            </a:pPr>
            <a:r>
              <a:t>Postgres + Vercel Blob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6B8D"/>
                </a:solidFill>
                <a:latin typeface="Consolas"/>
              </a:defRPr>
            </a:pPr>
            <a:r>
              <a:t>pnpm monorepo  //  apps/web + apps/worker + packages/shared + packages/contracts</a:t>
            </a:r>
          </a:p>
        </p:txBody>
      </p:sp>
      <p:pic>
        <p:nvPicPr>
          <p:cNvPr id="37" name="Picture 36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5943600"/>
            <a:ext cx="548640" cy="5486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0"/>
            <a:ext cx="4572000" cy="4572000"/>
          </a:xfrm>
          <a:prstGeom prst="ellipse">
            <a:avLst/>
          </a:prstGeom>
          <a:solidFill>
            <a:srgbClr val="083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FF88"/>
                </a:solidFill>
                <a:latin typeface="Consolas"/>
              </a:defRPr>
            </a:pPr>
            <a:r>
              <a:t>WHAT'S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Arial Black"/>
              </a:defRPr>
            </a:pPr>
            <a:r>
              <a:t>This isn't a concept. It's deployed.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Wallet connect  &gt;  DNA analysis in &lt;30s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AI genesis character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12 overlay traits (crown, scar, zombie eyes...)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9-event state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Mutation Diary tracking every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Meme-ready share cards with captions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Soulbound Soul Core on BNB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974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97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Replay Mode — full offline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918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30+ pages: Gallery, Zodiac, Graveyard...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86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Report Card with detailed 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480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Hall of Fame + Battle comparisons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88"/>
                </a:solidFill>
                <a:latin typeface="Consolas"/>
              </a:defRPr>
            </a:pPr>
            <a: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074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D0D0E8"/>
                </a:solidFill>
                <a:latin typeface="Calibri"/>
              </a:defRPr>
            </a:pPr>
            <a:r>
              <a:t>Token launch via Four.meme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760720"/>
            <a:ext cx="7589520" cy="640080"/>
          </a:xfrm>
          <a:prstGeom prst="roundRect">
            <a:avLst>
              <a:gd name="adj" fmla="val 4000"/>
            </a:avLst>
          </a:prstGeom>
          <a:solidFill>
            <a:srgbClr val="111118"/>
          </a:solidFill>
          <a:ln w="12700"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580644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FF88"/>
                </a:solidFill>
                <a:latin typeface="Arial Black"/>
              </a:defRPr>
            </a:pPr>
            <a:r>
              <a:t>Solo build.  12 days.  Fully working product.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B6B8D"/>
                </a:solidFill>
                <a:latin typeface="Consolas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0"/>
            <a:ext cx="8229600" cy="6400800"/>
          </a:xfrm>
          <a:prstGeom prst="ellipse">
            <a:avLst/>
          </a:prstGeom>
          <a:solidFill>
            <a:srgbClr val="083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23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4320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460175" y="27432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917375" y="27432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460175" y="6583680"/>
            <a:ext cx="457200" cy="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917375" y="6126480"/>
            <a:ext cx="0" cy="457200"/>
          </a:xfrm>
          <a:prstGeom prst="line">
            <a:avLst/>
          </a:prstGeom>
          <a:ln w="2540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3152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2377440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FFFFFF"/>
                </a:solidFill>
                <a:latin typeface="Arial Black"/>
              </a:defRPr>
            </a:pPr>
            <a:r>
              <a:t>DegenBorn is not another NFT project.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D0D0E8"/>
                </a:solidFill>
                <a:latin typeface="Calibri"/>
              </a:defRPr>
            </a:pPr>
            <a:r>
              <a:t>It's the first time your wallet behavior</a:t>
            </a:r>
            <a:br/>
            <a:r>
              <a:t>becomes a character with scars, crowns, and a mood.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FF88"/>
                </a:solidFill>
                <a:latin typeface="Calibri"/>
              </a:defRPr>
            </a:pPr>
            <a:r>
              <a:t>Four.meme gets retention.  The user gets a 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D4FF"/>
                </a:solidFill>
                <a:latin typeface="Consolas"/>
              </a:defRPr>
            </a:pPr>
            <a:r>
              <a:t>degenborn.xyz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21792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B6B8D"/>
                </a:solidFill>
                <a:latin typeface="Calibri"/>
              </a:defRPr>
            </a:pPr>
            <a:r>
              <a:t>Your wallet, reborn as a monster.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